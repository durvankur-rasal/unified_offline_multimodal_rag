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1280160"/>
            <a:ext cx="3657600" cy="365760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Autonomous Multi-Agent Swarms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8FF"/>
                </a:solidFill>
                <a:latin typeface="Calibri"/>
              </a:rPr>
              <a:t>for Code Repository Remediation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D6E8"/>
                </a:solidFill>
                <a:latin typeface="Calibri"/>
              </a:rPr>
              <a:t>A Graph-Based Orchestration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5029200" cy="411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564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C8FF"/>
                </a:solidFill>
                <a:latin typeface="Calibri"/>
              </a:rPr>
              <a:t>Presenter:  </a:t>
            </a:r>
            <a:r>
              <a:rPr sz="1400" b="0">
                <a:solidFill>
                  <a:srgbClr val="CCD6E8"/>
                </a:solidFill>
                <a:latin typeface="Calibri"/>
              </a:rPr>
              <a:t>Durvankur Rasal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C8FF"/>
                </a:solidFill>
                <a:latin typeface="Calibri"/>
              </a:rPr>
              <a:t>Roll No:    </a:t>
            </a:r>
            <a:r>
              <a:rPr sz="1400" b="0">
                <a:solidFill>
                  <a:srgbClr val="CCD6E8"/>
                </a:solidFill>
                <a:latin typeface="Calibri"/>
              </a:rPr>
              <a:t>XXXXX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245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C8FF"/>
                </a:solidFill>
                <a:latin typeface="Calibri"/>
              </a:rPr>
              <a:t>Course:     </a:t>
            </a:r>
            <a:r>
              <a:rPr sz="1400" b="0">
                <a:solidFill>
                  <a:srgbClr val="CCD6E8"/>
                </a:solidFill>
                <a:latin typeface="Calibri"/>
              </a:rPr>
              <a:t>Advanced Software Engineering / AI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0857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C8FF"/>
                </a:solidFill>
                <a:latin typeface="Calibri"/>
              </a:rPr>
              <a:t>Date:       </a:t>
            </a:r>
            <a:r>
              <a:rPr sz="1400" b="0">
                <a:solidFill>
                  <a:srgbClr val="CCD6E8"/>
                </a:solidFill>
                <a:latin typeface="Calibri"/>
              </a:rPr>
              <a:t>April 17,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2531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AA"/>
                </a:solidFill>
                <a:latin typeface="Calibri"/>
              </a:rPr>
              <a:t>📌 Speaker Note:  Open with the elevator pitch — "A Multi-Agent Swarm is a coordinated network of specialized AI agents that collaborate, debate, and self-correct to accomplish tasks no single model can handle well."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922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7799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5156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Bottleneck in Modern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FF"/>
                </a:solidFill>
                <a:latin typeface="Calibri"/>
              </a:rPr>
              <a:t>Problem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261872"/>
            <a:ext cx="91440" cy="138988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" y="1261872"/>
            <a:ext cx="11430000" cy="138988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Context-Switching Penalty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Calibri"/>
              </a:rPr>
              <a:t>Every time a developer stops to review a large PR, it takes 20+ minutes to rebuild mental context. Across a whole team, this compounds into a massive hidden productivity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2852928"/>
            <a:ext cx="91440" cy="138988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" y="2852928"/>
            <a:ext cx="11430000" cy="138988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94436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'Myopic AI' Flaw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284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Calibri"/>
              </a:rPr>
              <a:t>Standard LLMs see only the file diff — they have no idea how that file interacts with the rest of the codebase. The result is shallow reviews that miss systemic architectural issues.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4443984"/>
            <a:ext cx="91440" cy="13898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" y="4443984"/>
            <a:ext cx="11430000" cy="138988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53542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1947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Calibri"/>
              </a:rPr>
              <a:t>Shift from rigid, static CI/CD pipelines to a dynamic, context-aware remediation system that understands the full architecture before ever suggesting a fix.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922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7799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5156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Multi-Agent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FF"/>
                </a:solidFill>
                <a:latin typeface="Calibri"/>
              </a:rPr>
              <a:t>From a single model to a team of specialized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371600"/>
            <a:ext cx="11612880" cy="1444752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64208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C8FF"/>
                </a:solidFill>
                <a:latin typeface="Calibri"/>
              </a:rPr>
              <a:t>Division of Labor:  </a:t>
            </a:r>
            <a:r>
              <a:rPr sz="1400" b="0">
                <a:solidFill>
                  <a:srgbClr val="CCD6E8"/>
                </a:solidFill>
                <a:latin typeface="Calibri"/>
              </a:rPr>
              <a:t>One massive model that tries to be an expert in everything usually fails at everything. Narrow, specialized agents that each own a single task produce more precise, reliable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2980944"/>
            <a:ext cx="11612880" cy="1444752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273551"/>
            <a:ext cx="50292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255263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72384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C8FF"/>
                </a:solidFill>
                <a:latin typeface="Calibri"/>
              </a:rPr>
              <a:t>Retrieval-Augmented Generation (RAG):  </a:t>
            </a:r>
            <a:r>
              <a:rPr sz="1400" b="0">
                <a:solidFill>
                  <a:srgbClr val="CCD6E8"/>
                </a:solidFill>
                <a:latin typeface="Calibri"/>
              </a:rPr>
              <a:t>Instead of relying on general training data, RAG agents actively query a live vector database of the real codebase — giving them precise, up-to-date architectural knowledge before they respond.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4590288"/>
            <a:ext cx="11612880" cy="1444752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882896"/>
            <a:ext cx="50292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8646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81727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C8FF"/>
                </a:solidFill>
                <a:latin typeface="Calibri"/>
              </a:rPr>
              <a:t>Iterative Debate:  </a:t>
            </a:r>
            <a:r>
              <a:rPr sz="1400" b="0">
                <a:solidFill>
                  <a:srgbClr val="CCD6E8"/>
                </a:solidFill>
                <a:latin typeface="Calibri"/>
              </a:rPr>
              <a:t>Agents challenge each other in a structured loop. The Review Agent critiques the Refactor Agent's suggestion; they iterate until the output meets a defined quality threshold or a timeout fires.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922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7799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5156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Proposed Conceptual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FF"/>
                </a:solidFill>
                <a:latin typeface="Calibri"/>
              </a:rPr>
              <a:t>System Design &amp;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2103120"/>
            <a:ext cx="1993392" cy="10515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2194560"/>
            <a:ext cx="199339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GitHub
Webhook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587752"/>
            <a:ext cx="274320" cy="8229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23744" y="2510028"/>
            <a:ext cx="128016" cy="2651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2103120"/>
            <a:ext cx="1993392" cy="1051560"/>
          </a:xfrm>
          <a:prstGeom prst="rect">
            <a:avLst/>
          </a:prstGeom>
          <a:solidFill>
            <a:srgbClr val="15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194560"/>
            <a:ext cx="199339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 Diff
Extractor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3712" y="2587752"/>
            <a:ext cx="274320" cy="8229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91456" y="2510028"/>
            <a:ext cx="128016" cy="2651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28031" y="2103120"/>
            <a:ext cx="1993392" cy="1051560"/>
          </a:xfrm>
          <a:prstGeom prst="rect">
            <a:avLst/>
          </a:prstGeom>
          <a:solidFill>
            <a:srgbClr val="15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1" y="2194560"/>
            <a:ext cx="199339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Vector DB
(Pinecone)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21423" y="2587752"/>
            <a:ext cx="274320" cy="8229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59167" y="2510028"/>
            <a:ext cx="128016" cy="2651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5744" y="2103120"/>
            <a:ext cx="1993392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2194560"/>
            <a:ext cx="199339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State-Graph
Orchestrator
(LangGraph)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2587752"/>
            <a:ext cx="274320" cy="8229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2510028"/>
            <a:ext cx="128016" cy="2651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63456" y="2103120"/>
            <a:ext cx="1993392" cy="10515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2194560"/>
            <a:ext cx="199339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Agent
Swarm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3319272"/>
            <a:ext cx="3767328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3319272"/>
            <a:ext cx="64008" cy="7132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4015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B2FFF"/>
                </a:solidFill>
                <a:latin typeface="Calibri"/>
              </a:rPr>
              <a:t>↺  Iterative Debate / Consensus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160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▸  A GitHub webhook fires on every PR merge — the swarm intercepts it instantly.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55371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▸  The PR diff is extracted and converted to vector embeddings for semantic search.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946903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▸  Pinecone is queried for historically coupled modules and related commit history.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40095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▸  LangGraph orchestrates cyclic, stateful handoffs between agents — no single point of failure.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4922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7799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5156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"Shadow Team"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FF"/>
                </a:solidFill>
                <a:latin typeface="Calibri"/>
              </a:rPr>
              <a:t>Agent Roles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234440"/>
            <a:ext cx="11658600" cy="1243584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34440"/>
            <a:ext cx="109728" cy="124358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alibri"/>
              </a:rPr>
              <a:t>🔍  Triage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9164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Watches the GitHub webhook stream. Categorizes each incoming PR (bug fix, feature, refactor, security patch) and routes it to the correct downstream agents with appropriate priority.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606040"/>
            <a:ext cx="11658600" cy="1243584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2606040"/>
            <a:ext cx="109728" cy="124358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Calibri"/>
              </a:rPr>
              <a:t>📦  Retrieval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06324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Queries the vector database for all files historically coupled to the changed code, past commit messages, and related issue threads — bringing full context into the swarm's shared memory.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977639"/>
            <a:ext cx="11658600" cy="1243584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3977639"/>
            <a:ext cx="109728" cy="124358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0233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🧠  Review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43484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Reads the PR diff alongside retrieved context and flags logic errors, broken interfaces, and architectural anti-patterns. Acts as the swarm's internal critic and quality gatekeeper.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5349240"/>
            <a:ext cx="11658600" cy="1243584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5349240"/>
            <a:ext cx="109728" cy="124358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53949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  <a:latin typeface="Calibri"/>
              </a:rPr>
              <a:t>🔧  Refactor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80644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Proposes the corrected code. Enters a structured debate loop with the Review Agent, iterating until the Review Agent approves or a maximum round limit is reached.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922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7799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5156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Ethical &amp; Social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FF"/>
                </a:solidFill>
                <a:latin typeface="Calibri"/>
              </a:rPr>
              <a:t>Human &amp; Governance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261872"/>
            <a:ext cx="11658600" cy="1572768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61872"/>
            <a:ext cx="11658600" cy="54864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99031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555"/>
                </a:solidFill>
                <a:latin typeface="Calibri"/>
              </a:rPr>
              <a:t>⚖️  Accountability Dilemma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1051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Calibri"/>
              </a:rPr>
              <a:t>If an autonomous swarm approves and merges a PR that introduces a security vulnerability, who is legally responsible — the developer who triggered it, the team lead, or the AI vendor?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999232"/>
            <a:ext cx="11658600" cy="1572768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2999232"/>
            <a:ext cx="11658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136391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👩‍💻  The Junior Developer Squeeze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5478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Calibri"/>
              </a:rPr>
              <a:t>PR reviews are how junior engineers learn to read other people's code in depth. Automating them risks producing developers who never develop that skill — weakening teams long-term.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4736592"/>
            <a:ext cx="11658600" cy="1572768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4736592"/>
            <a:ext cx="116586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4873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Calibri"/>
              </a:rPr>
              <a:t>🔒  Security &amp; Bias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5285231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Calibri"/>
              </a:rPr>
              <a:t>Agents may hallucinate secure-looking but vulnerable dependency versions, or enforce biased coding patterns derived from skewed training corpora — silently spreading bad practices at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922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7799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5156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FF"/>
                </a:solidFill>
                <a:latin typeface="Calibri"/>
              </a:rPr>
              <a:t>A Realistic, Forward-Looking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234440"/>
            <a:ext cx="5577840" cy="42519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34440"/>
            <a:ext cx="5577840" cy="54864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1335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888"/>
                </a:solidFill>
                <a:latin typeface="Calibri"/>
              </a:rPr>
              <a:t>⚠️  Current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1847088"/>
            <a:ext cx="53218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Calibri"/>
              </a:rPr>
              <a:t>▸  Embedding large enterprise monorepos is expensive — token limits are hit quickly and costs spike.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834640"/>
            <a:ext cx="53218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Calibri"/>
              </a:rPr>
              <a:t>▸  Agent debate loops can turn infinite without a well-tuned timeout and fallback exit condition.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3822191"/>
            <a:ext cx="53218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Calibri"/>
              </a:rPr>
              <a:t>▸  Vector search may retrieve irrelevant code context, sending agents down the wrong analytical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577840" cy="4251960"/>
          </a:xfrm>
          <a:prstGeom prst="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5778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35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  <a:latin typeface="Calibri"/>
              </a:rPr>
              <a:t>🚀  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47088"/>
            <a:ext cx="53218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Calibri"/>
              </a:rPr>
              <a:t>▸  Execution Agent: Spins up a secure sandbox to compile and empirically test the fix before merging.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53218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Calibri"/>
              </a:rPr>
              <a:t>▸  Self-Healing Pipelines: The swarm monitors production logs and autonomously opens PRs to fix live regressions.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22191"/>
            <a:ext cx="53218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Calibri"/>
              </a:rPr>
              <a:t>▸  Narrator Agent: Generates a human-readable audit trail explaining every decision the swarm made.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5669280"/>
            <a:ext cx="11676888" cy="822960"/>
          </a:xfrm>
          <a:prstGeom prst="rect">
            <a:avLst/>
          </a:prstGeom>
          <a:solidFill>
            <a:srgbClr val="0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57241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Conclusion:  Autonomous Multi-Agent Swarms shift software engineering from manual validation to automated self-healing — making codebases faster, more reliable, and continuously improving.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922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7799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