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87B54D-2807-4174-9D63-8A5F6934EABA}" v="105" dt="2026-03-25T17:00:38.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25/03/2026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25/03/2026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25/03/2026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25/03/2026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7617"/>
            <a:ext cx="9144000" cy="602019"/>
          </a:xfrm>
        </p:spPr>
        <p:txBody>
          <a:bodyPr>
            <a:normAutofit/>
          </a:bodyPr>
          <a:lstStyle/>
          <a:p>
            <a:pPr marL="514350" indent="-514350">
              <a:buAutoNum type="arabicPeriod"/>
            </a:pPr>
            <a:r>
              <a:rPr lang="en-GB" sz="3200">
                <a:ea typeface="+mj-lt"/>
                <a:cs typeface="+mj-lt"/>
              </a:rPr>
              <a:t>The Confusing Dual-Flush Toilet Button</a:t>
            </a:r>
            <a:endParaRPr lang="en-US" sz="3200"/>
          </a:p>
        </p:txBody>
      </p:sp>
      <p:sp>
        <p:nvSpPr>
          <p:cNvPr id="3" name="Subtitle 2"/>
          <p:cNvSpPr>
            <a:spLocks noGrp="1"/>
          </p:cNvSpPr>
          <p:nvPr>
            <p:ph type="subTitle" idx="1"/>
          </p:nvPr>
        </p:nvSpPr>
        <p:spPr>
          <a:xfrm>
            <a:off x="352567" y="1304665"/>
            <a:ext cx="11486865" cy="5238298"/>
          </a:xfrm>
        </p:spPr>
        <p:txBody>
          <a:bodyPr vert="horz" lIns="91440" tIns="45720" rIns="91440" bIns="45720" rtlCol="0" anchor="t">
            <a:normAutofit lnSpcReduction="10000"/>
          </a:bodyPr>
          <a:lstStyle/>
          <a:p>
            <a:pPr algn="l"/>
            <a:r>
              <a:rPr lang="en-GB" b="1" dirty="0">
                <a:ea typeface="+mn-lt"/>
                <a:cs typeface="+mn-lt"/>
              </a:rPr>
              <a:t>Usability Problem Identified:</a:t>
            </a:r>
            <a:r>
              <a:rPr lang="en-GB" dirty="0">
                <a:ea typeface="+mn-lt"/>
                <a:cs typeface="+mn-lt"/>
              </a:rPr>
              <a:t> Dual-flush toilet buttons are designed to save water — one for a half flush, one for a full flush. However, in most public restrooms and even home bathrooms, there is </a:t>
            </a:r>
            <a:r>
              <a:rPr lang="en-GB" b="1" dirty="0">
                <a:ea typeface="+mn-lt"/>
                <a:cs typeface="+mn-lt"/>
              </a:rPr>
              <a:t>no clear label</a:t>
            </a:r>
            <a:r>
              <a:rPr lang="en-GB" dirty="0">
                <a:ea typeface="+mn-lt"/>
                <a:cs typeface="+mn-lt"/>
              </a:rPr>
              <a:t> indicating which button does what. Both buttons are often the same </a:t>
            </a:r>
            <a:r>
              <a:rPr lang="en-GB" dirty="0" err="1">
                <a:ea typeface="+mn-lt"/>
                <a:cs typeface="+mn-lt"/>
              </a:rPr>
              <a:t>color</a:t>
            </a:r>
            <a:r>
              <a:rPr lang="en-GB" dirty="0">
                <a:ea typeface="+mn-lt"/>
                <a:cs typeface="+mn-lt"/>
              </a:rPr>
              <a:t>, similar in size, or placed so close together that users simply guess and press randomly.</a:t>
            </a:r>
            <a:endParaRPr lang="en-US" dirty="0"/>
          </a:p>
          <a:p>
            <a:pPr algn="l"/>
            <a:r>
              <a:rPr lang="en-GB" b="1" dirty="0">
                <a:ea typeface="+mn-lt"/>
                <a:cs typeface="+mn-lt"/>
              </a:rPr>
              <a:t>Where I Observed It:</a:t>
            </a:r>
            <a:r>
              <a:rPr lang="en-GB" dirty="0">
                <a:ea typeface="+mn-lt"/>
                <a:cs typeface="+mn-lt"/>
              </a:rPr>
              <a:t> I noticed this problem in almost every public restroom I have visited — malls, colleges, and offices. Most people press both buttons at once out of confusion, which completely defeats the purpose of a water-saving design.</a:t>
            </a:r>
            <a:endParaRPr lang="en-GB" dirty="0"/>
          </a:p>
          <a:p>
            <a:pPr algn="l"/>
            <a:r>
              <a:rPr lang="en-GB" b="1" dirty="0">
                <a:ea typeface="+mn-lt"/>
                <a:cs typeface="+mn-lt"/>
              </a:rPr>
              <a:t>Why It's a Usability Failure:</a:t>
            </a:r>
            <a:r>
              <a:rPr lang="en-GB" dirty="0">
                <a:ea typeface="+mn-lt"/>
                <a:cs typeface="+mn-lt"/>
              </a:rPr>
              <a:t> According to Don Norman's principles in </a:t>
            </a:r>
            <a:r>
              <a:rPr lang="en-GB" i="1" dirty="0">
                <a:ea typeface="+mn-lt"/>
                <a:cs typeface="+mn-lt"/>
              </a:rPr>
              <a:t>The Design of Everyday Things</a:t>
            </a:r>
            <a:r>
              <a:rPr lang="en-GB" dirty="0">
                <a:ea typeface="+mn-lt"/>
                <a:cs typeface="+mn-lt"/>
              </a:rPr>
              <a:t>, good design relies on </a:t>
            </a:r>
            <a:r>
              <a:rPr lang="en-GB" b="1" dirty="0">
                <a:ea typeface="+mn-lt"/>
                <a:cs typeface="+mn-lt"/>
              </a:rPr>
              <a:t>affordances</a:t>
            </a:r>
            <a:r>
              <a:rPr lang="en-GB" dirty="0">
                <a:ea typeface="+mn-lt"/>
                <a:cs typeface="+mn-lt"/>
              </a:rPr>
              <a:t> and </a:t>
            </a:r>
            <a:r>
              <a:rPr lang="en-GB" b="1" dirty="0">
                <a:ea typeface="+mn-lt"/>
                <a:cs typeface="+mn-lt"/>
              </a:rPr>
              <a:t>signifiers</a:t>
            </a:r>
            <a:r>
              <a:rPr lang="en-GB" dirty="0">
                <a:ea typeface="+mn-lt"/>
                <a:cs typeface="+mn-lt"/>
              </a:rPr>
              <a:t> — the object should communicate its function visually. These buttons provide no signifier. A simple icon (small drop vs. large drop), a size difference, or a label like "½" and "FULL" would immediately solve the problem without any instruction manual.</a:t>
            </a:r>
            <a:endParaRPr lang="en-GB" dirty="0"/>
          </a:p>
          <a:p>
            <a:pPr algn="l"/>
            <a:r>
              <a:rPr lang="en-GB" b="1" dirty="0">
                <a:ea typeface="+mn-lt"/>
                <a:cs typeface="+mn-lt"/>
              </a:rPr>
              <a:t>Impact:</a:t>
            </a:r>
            <a:r>
              <a:rPr lang="en-GB" dirty="0">
                <a:ea typeface="+mn-lt"/>
                <a:cs typeface="+mn-lt"/>
              </a:rPr>
              <a:t> Users </a:t>
            </a:r>
            <a:r>
              <a:rPr lang="en-GB" dirty="0" err="1">
                <a:ea typeface="+mn-lt"/>
                <a:cs typeface="+mn-lt"/>
              </a:rPr>
              <a:t>waste water</a:t>
            </a:r>
            <a:r>
              <a:rPr lang="en-GB" dirty="0">
                <a:ea typeface="+mn-lt"/>
                <a:cs typeface="+mn-lt"/>
              </a:rPr>
              <a:t> instead of saving it, and the core purpose of the design is lost.</a:t>
            </a:r>
            <a:endParaRPr lang="en-GB" dirty="0"/>
          </a:p>
          <a:p>
            <a:pPr algn="l"/>
            <a:endParaRPr lang="en-GB" dirty="0"/>
          </a:p>
          <a:p>
            <a:endParaRPr lang="en-GB"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E64CC-4F46-9DA6-2588-7757979FD566}"/>
              </a:ext>
            </a:extLst>
          </p:cNvPr>
          <p:cNvSpPr>
            <a:spLocks noGrp="1"/>
          </p:cNvSpPr>
          <p:nvPr>
            <p:ph type="title"/>
          </p:nvPr>
        </p:nvSpPr>
        <p:spPr>
          <a:xfrm>
            <a:off x="838200" y="223611"/>
            <a:ext cx="10515600" cy="585335"/>
          </a:xfrm>
        </p:spPr>
        <p:txBody>
          <a:bodyPr>
            <a:normAutofit/>
          </a:bodyPr>
          <a:lstStyle/>
          <a:p>
            <a:pPr algn="ctr"/>
            <a:r>
              <a:rPr lang="en-GB" sz="3200">
                <a:ea typeface="+mj-lt"/>
                <a:cs typeface="+mj-lt"/>
              </a:rPr>
              <a:t>2. Push vs. Pull Doors — A Never-Ending Confusion</a:t>
            </a:r>
            <a:endParaRPr lang="en-US" sz="3200"/>
          </a:p>
        </p:txBody>
      </p:sp>
      <p:sp>
        <p:nvSpPr>
          <p:cNvPr id="6" name="TextBox 5">
            <a:extLst>
              <a:ext uri="{FF2B5EF4-FFF2-40B4-BE49-F238E27FC236}">
                <a16:creationId xmlns:a16="http://schemas.microsoft.com/office/drawing/2014/main" id="{1237D3FE-6104-9422-B4ED-59948243FF9E}"/>
              </a:ext>
            </a:extLst>
          </p:cNvPr>
          <p:cNvSpPr txBox="1"/>
          <p:nvPr/>
        </p:nvSpPr>
        <p:spPr>
          <a:xfrm>
            <a:off x="422163" y="802823"/>
            <a:ext cx="11358598" cy="6278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Usability Problem Identified:</a:t>
            </a:r>
            <a:r>
              <a:rPr lang="en-GB" sz="2400" dirty="0">
                <a:ea typeface="+mn-lt"/>
                <a:cs typeface="+mn-lt"/>
              </a:rPr>
              <a:t> We have all done it — walked up to a glass door, grabbed the handle, and pulled when we were supposed to push (or vice versa). This is one of the most common and embarrassing everyday usability failures. Doors with </a:t>
            </a:r>
            <a:r>
              <a:rPr lang="en-GB" sz="2400" b="1" dirty="0">
                <a:ea typeface="+mn-lt"/>
                <a:cs typeface="+mn-lt"/>
              </a:rPr>
              <a:t>identical handles on both sides</a:t>
            </a:r>
            <a:r>
              <a:rPr lang="en-GB" sz="2400" dirty="0">
                <a:ea typeface="+mn-lt"/>
                <a:cs typeface="+mn-lt"/>
              </a:rPr>
              <a:t> give users absolutely no hint about which action is required.</a:t>
            </a:r>
            <a:endParaRPr lang="en-US" sz="2400"/>
          </a:p>
          <a:p>
            <a:r>
              <a:rPr lang="en-GB" sz="2400" b="1">
                <a:ea typeface="+mn-lt"/>
                <a:cs typeface="+mn-lt"/>
              </a:rPr>
              <a:t>Where I Observed It:</a:t>
            </a:r>
            <a:r>
              <a:rPr lang="en-GB" sz="2400">
                <a:ea typeface="+mn-lt"/>
                <a:cs typeface="+mn-lt"/>
              </a:rPr>
              <a:t> At college entrances, cafés, supermarkets, and offices. Interestingly, the more "modern" and minimal the door design, the worse this problem gets — because designers remove all obvious visual cues in the name of aesthetics.</a:t>
            </a:r>
            <a:endParaRPr lang="en-GB" sz="2400"/>
          </a:p>
          <a:p>
            <a:r>
              <a:rPr lang="en-GB" sz="2400" b="1" dirty="0">
                <a:ea typeface="+mn-lt"/>
                <a:cs typeface="+mn-lt"/>
              </a:rPr>
              <a:t>Why It's a Usability Failure:</a:t>
            </a:r>
            <a:r>
              <a:rPr lang="en-GB" sz="2400" dirty="0">
                <a:ea typeface="+mn-lt"/>
                <a:cs typeface="+mn-lt"/>
              </a:rPr>
              <a:t> A door handle (pull bar) naturally affords pulling, while a flat plate affords pushing. The problem arises when both sides have the same D-shaped handle. As Don Norman would call it, this is a </a:t>
            </a:r>
            <a:r>
              <a:rPr lang="en-GB" sz="2400" b="1" dirty="0">
                <a:ea typeface="+mn-lt"/>
                <a:cs typeface="+mn-lt"/>
              </a:rPr>
              <a:t>"Norman Door"</a:t>
            </a:r>
            <a:r>
              <a:rPr lang="en-GB" sz="2400" dirty="0">
                <a:ea typeface="+mn-lt"/>
                <a:cs typeface="+mn-lt"/>
              </a:rPr>
              <a:t> — a door that requires a sign to tell you what to do because the design itself fails to communicate. If a design requires a written instruction like "PUSH," the design has already failed.</a:t>
            </a:r>
            <a:endParaRPr lang="en-GB" sz="2400"/>
          </a:p>
          <a:p>
            <a:r>
              <a:rPr lang="en-GB" sz="2400" b="1">
                <a:ea typeface="+mn-lt"/>
                <a:cs typeface="+mn-lt"/>
              </a:rPr>
              <a:t>My Suggested Fix:</a:t>
            </a:r>
            <a:r>
              <a:rPr lang="en-GB" sz="2400">
                <a:ea typeface="+mn-lt"/>
                <a:cs typeface="+mn-lt"/>
              </a:rPr>
              <a:t> Use a flat push plate on the push side and a graspable handle only on the pull side. The shape itself should tell the user what to do — no labels needed.</a:t>
            </a:r>
            <a:endParaRPr lang="en-GB" sz="2400"/>
          </a:p>
          <a:p>
            <a:pPr algn="l"/>
            <a:endParaRPr lang="en-GB" dirty="0"/>
          </a:p>
        </p:txBody>
      </p:sp>
    </p:spTree>
    <p:extLst>
      <p:ext uri="{BB962C8B-B14F-4D97-AF65-F5344CB8AC3E}">
        <p14:creationId xmlns:p14="http://schemas.microsoft.com/office/powerpoint/2010/main" val="3180779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F8A24-3962-3151-75D6-485FA34FB64A}"/>
              </a:ext>
            </a:extLst>
          </p:cNvPr>
          <p:cNvSpPr>
            <a:spLocks noGrp="1"/>
          </p:cNvSpPr>
          <p:nvPr>
            <p:ph type="title"/>
          </p:nvPr>
        </p:nvSpPr>
        <p:spPr>
          <a:xfrm>
            <a:off x="838200" y="201839"/>
            <a:ext cx="10515600" cy="487364"/>
          </a:xfrm>
        </p:spPr>
        <p:txBody>
          <a:bodyPr>
            <a:normAutofit fontScale="90000"/>
          </a:bodyPr>
          <a:lstStyle/>
          <a:p>
            <a:pPr algn="ctr"/>
            <a:r>
              <a:rPr lang="en-GB" sz="3200">
                <a:ea typeface="+mj-lt"/>
                <a:cs typeface="+mj-lt"/>
              </a:rPr>
              <a:t>3. Mixer/Grinder Jar Locking Mechanism</a:t>
            </a:r>
            <a:endParaRPr lang="en-US"/>
          </a:p>
        </p:txBody>
      </p:sp>
      <p:sp>
        <p:nvSpPr>
          <p:cNvPr id="6" name="TextBox 5">
            <a:extLst>
              <a:ext uri="{FF2B5EF4-FFF2-40B4-BE49-F238E27FC236}">
                <a16:creationId xmlns:a16="http://schemas.microsoft.com/office/drawing/2014/main" id="{C0580A46-C9D5-7228-AB24-676303F09D24}"/>
              </a:ext>
            </a:extLst>
          </p:cNvPr>
          <p:cNvSpPr txBox="1"/>
          <p:nvPr/>
        </p:nvSpPr>
        <p:spPr>
          <a:xfrm>
            <a:off x="407961" y="682444"/>
            <a:ext cx="11374374" cy="6278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mn-lt"/>
                <a:cs typeface="+mn-lt"/>
              </a:rPr>
              <a:t>Usability Problem Identified:</a:t>
            </a:r>
            <a:r>
              <a:rPr lang="en-GB" sz="2400" dirty="0">
                <a:ea typeface="+mn-lt"/>
                <a:cs typeface="+mn-lt"/>
              </a:rPr>
              <a:t> The locking mechanism on household mixer-grinder jars is a serious usability hazard. To attach the jar to the base, users must align the jar to a specific position and twist it — but the correct direction (clockwise or counterclockwise) is </a:t>
            </a:r>
            <a:r>
              <a:rPr lang="en-GB" sz="2400" b="1">
                <a:ea typeface="+mn-lt"/>
                <a:cs typeface="+mn-lt"/>
              </a:rPr>
              <a:t>never clearly marked</a:t>
            </a:r>
            <a:r>
              <a:rPr lang="en-GB" sz="2400">
                <a:ea typeface="+mn-lt"/>
                <a:cs typeface="+mn-lt"/>
              </a:rPr>
              <a:t>. </a:t>
            </a:r>
            <a:endParaRPr lang="en-GB" sz="2400"/>
          </a:p>
          <a:p>
            <a:r>
              <a:rPr lang="en-GB" sz="2400" b="1" dirty="0">
                <a:ea typeface="+mn-lt"/>
                <a:cs typeface="+mn-lt"/>
              </a:rPr>
              <a:t>Where I Observed It:</a:t>
            </a:r>
            <a:r>
              <a:rPr lang="en-GB" sz="2400" dirty="0">
                <a:ea typeface="+mn-lt"/>
                <a:cs typeface="+mn-lt"/>
              </a:rPr>
              <a:t> At home, I have seen my mother and grandmother struggle with this nearly every morning. Even after years of use, they occasionally attach it incorrectly and the jar spins during blending — which is both frustrating and dangerous.</a:t>
            </a:r>
            <a:endParaRPr lang="en-GB" sz="2400"/>
          </a:p>
          <a:p>
            <a:r>
              <a:rPr lang="en-GB" sz="2400" b="1" dirty="0">
                <a:ea typeface="+mn-lt"/>
                <a:cs typeface="+mn-lt"/>
              </a:rPr>
              <a:t>Why It's a Usability Failure:</a:t>
            </a:r>
            <a:r>
              <a:rPr lang="en-GB" sz="2400" dirty="0">
                <a:ea typeface="+mn-lt"/>
                <a:cs typeface="+mn-lt"/>
              </a:rPr>
              <a:t> This violates the design principle of </a:t>
            </a:r>
            <a:r>
              <a:rPr lang="en-GB" sz="2400" b="1" dirty="0">
                <a:ea typeface="+mn-lt"/>
                <a:cs typeface="+mn-lt"/>
              </a:rPr>
              <a:t>feedback and mapping</a:t>
            </a:r>
            <a:r>
              <a:rPr lang="en-GB" sz="2400" dirty="0">
                <a:ea typeface="+mn-lt"/>
                <a:cs typeface="+mn-lt"/>
              </a:rPr>
              <a:t>. The user receives no feedback (no click, no sound, no visual indicator) confirming whether the jar is locked correctly. The base and jar are both opaque, so the locking teeth are invisible. </a:t>
            </a:r>
          </a:p>
          <a:p>
            <a:r>
              <a:rPr lang="en-GB" sz="2400" b="1" dirty="0">
                <a:ea typeface="+mn-lt"/>
                <a:cs typeface="+mn-lt"/>
              </a:rPr>
              <a:t>My Suggested Fix:</a:t>
            </a:r>
            <a:r>
              <a:rPr lang="en-GB" sz="2400" dirty="0">
                <a:ea typeface="+mn-lt"/>
                <a:cs typeface="+mn-lt"/>
              </a:rPr>
              <a:t> Add a simple </a:t>
            </a:r>
            <a:r>
              <a:rPr lang="en-GB" sz="2400" dirty="0" err="1">
                <a:ea typeface="+mn-lt"/>
                <a:cs typeface="+mn-lt"/>
              </a:rPr>
              <a:t>colored</a:t>
            </a:r>
            <a:r>
              <a:rPr lang="en-GB" sz="2400" dirty="0">
                <a:ea typeface="+mn-lt"/>
                <a:cs typeface="+mn-lt"/>
              </a:rPr>
              <a:t> indicator — red for unlocked, green for locked — visible from the outside. A tactile click sound on proper locking would provide instant feedback. Arrow markings embossed on the jar and base would solve the mapping problem entirely.</a:t>
            </a:r>
            <a:endParaRPr lang="en-GB" sz="2400" dirty="0"/>
          </a:p>
          <a:p>
            <a:endParaRPr lang="en-GB" dirty="0"/>
          </a:p>
        </p:txBody>
      </p:sp>
    </p:spTree>
    <p:extLst>
      <p:ext uri="{BB962C8B-B14F-4D97-AF65-F5344CB8AC3E}">
        <p14:creationId xmlns:p14="http://schemas.microsoft.com/office/powerpoint/2010/main" val="3099644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The Confusing Dual-Flush Toilet Button</vt:lpstr>
      <vt:lpstr>2. Push vs. Pull Doors — A Never-Ending Confusion</vt:lpstr>
      <vt:lpstr>3. Mixer/Grinder Jar Locking Mechanism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73</cp:revision>
  <dcterms:created xsi:type="dcterms:W3CDTF">2026-03-25T15:14:12Z</dcterms:created>
  <dcterms:modified xsi:type="dcterms:W3CDTF">2026-03-25T17:00:56Z</dcterms:modified>
</cp:coreProperties>
</file>